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-1645920" y="3474720"/>
            <a:ext cx="5486400" cy="5486400"/>
          </a:xfrm>
          <a:prstGeom prst="ellipse">
            <a:avLst/>
          </a:prstGeom>
          <a:noFill/>
          <a:ln w="15240">
            <a:solidFill>
              <a:srgbClr val="14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noFill/>
          <a:ln w="12700">
            <a:solidFill>
              <a:srgbClr val="1B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3955" y="2427605"/>
            <a:ext cx="2240280" cy="61658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800" b="1">
                <a:solidFill>
                  <a:srgbClr val="E9F1FF"/>
                </a:solidFill>
                <a:latin typeface="Consolas" panose="020B0609020204030204"/>
              </a:rPr>
              <a:t>CyberNWT</a:t>
            </a:r>
            <a:endParaRPr lang="zh-CN" sz="3800" b="1">
              <a:solidFill>
                <a:srgbClr val="E9F1FF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1483" y="324612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400" b="1">
                <a:solidFill>
                  <a:srgbClr val="22D3EE"/>
                </a:solidFill>
                <a:latin typeface="微软雅黑" panose="020B0503020204020204" charset="-122"/>
              </a:rPr>
              <a:t>深信服交付现场 · 智能作战终端</a:t>
            </a:r>
            <a:endParaRPr lang="zh-CN" sz="240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7963" y="3767328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6B7C98"/>
                </a:solidFill>
                <a:latin typeface="Consolas" panose="020B0609020204030204"/>
              </a:rPr>
              <a:t>DELIVERY  FIELD  INTELLIGENCE  TERMINAL</a:t>
            </a:r>
            <a:endParaRPr lang="zh-CN" sz="12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61920" y="457200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2D3EE"/>
                </a:solidFill>
                <a:latin typeface="Consolas" panose="020B0609020204030204"/>
              </a:rPr>
              <a:t>SANGFOR AI 区域争霸赛</a:t>
            </a:r>
            <a:endParaRPr sz="105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0" y="457200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 panose="020B0609020204030204"/>
              </a:rPr>
              <a:t>AI 赛道</a:t>
            </a:r>
            <a:endParaRPr sz="1050" b="1">
              <a:solidFill>
                <a:srgbClr val="34D399"/>
              </a:solidFill>
              <a:latin typeface="Consolas" panose="020B0609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000240" y="4572000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A78BFA"/>
                </a:solidFill>
                <a:latin typeface="Consolas" panose="020B0609020204030204"/>
              </a:rPr>
              <a:t>Vibe Coding 作品</a:t>
            </a:r>
            <a:endParaRPr sz="1050" b="1">
              <a:solidFill>
                <a:srgbClr val="A78BFA"/>
              </a:solidFill>
              <a:latin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10640" y="534924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400" b="0">
                <a:solidFill>
                  <a:srgbClr val="9FB2CF"/>
                </a:solidFill>
                <a:latin typeface="微软雅黑" panose="020B0503020204020204" charset="-122"/>
              </a:rPr>
              <a:t>测速 · 感知 · 记录 · 诊断 · 复盘 —— 一个终端覆盖交付全流程</a:t>
            </a:r>
            <a:endParaRPr lang="zh-CN" sz="14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71600" y="603504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6B7C98"/>
                </a:solidFill>
                <a:latin typeface="微软雅黑" panose="020B0503020204020204" charset="-122"/>
              </a:rPr>
              <a:t>汇报人：翁炀彬   ·   AI 区域争霸赛</a:t>
            </a:r>
            <a:endParaRPr lang="zh-CN" sz="1200" b="0">
              <a:solidFill>
                <a:srgbClr val="6B7C98"/>
              </a:solidFill>
              <a:latin typeface="微软雅黑" panose="020B0503020204020204" charset="-122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3370" y="2463165"/>
            <a:ext cx="570865" cy="554355"/>
          </a:xfrm>
          <a:prstGeom prst="rect">
            <a:avLst/>
          </a:prstGeom>
        </p:spPr>
      </p:pic>
      <p:pic>
        <p:nvPicPr>
          <p:cNvPr id="26" name="Picture 25" descr="_sf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45" y="1003300"/>
            <a:ext cx="1011555" cy="1010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59400" y="11248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EF3FA"/>
                </a:solidFill>
                <a:latin typeface="Arial" panose="020B0604020202020204"/>
              </a:rPr>
              <a:t>S A N G F O R</a:t>
            </a:r>
            <a:endParaRPr sz="2600" b="1">
              <a:solidFill>
                <a:srgbClr val="EEF3FA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40960" y="1721485"/>
            <a:ext cx="3094355" cy="3816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150">
                <a:solidFill>
                  <a:srgbClr val="8FA8C7"/>
                </a:solidFill>
                <a:latin typeface="微软雅黑" panose="020B0503020204020204" charset="-122"/>
              </a:rPr>
              <a:t>深信服科技股份有限公司</a:t>
            </a:r>
            <a:endParaRPr sz="1150">
              <a:solidFill>
                <a:srgbClr val="8FA8C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01 / PRODUCT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02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INTRODUCTION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产品介绍：为交付现场而生的 AI 作战终端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不是又一个聊天机器人，而是解决深信服交付工程师真实痛点的专用工具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011680"/>
            <a:ext cx="5120640" cy="457200"/>
          </a:xfrm>
          <a:prstGeom prst="rect">
            <a:avLst/>
          </a:prstGeom>
          <a:solidFill>
            <a:srgbClr val="1A10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0939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F59E0B"/>
                </a:solidFill>
                <a:latin typeface="微软雅黑" panose="020B0503020204020204" charset="-122"/>
              </a:rPr>
              <a:t>⚠ 现场交付的真实痛点</a:t>
            </a:r>
            <a:endParaRPr lang="zh-CN" sz="14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77824" y="2706624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1518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资料难找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设备手册、案例散落各处，现场翻文档效率低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77824" y="32735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182112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经验断层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老工程师经验难沉淀，新人上手慢、排障靠碰运气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77824" y="384048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7490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过程难记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实施过程与关键决策零散，复盘靠回忆、报告靠憋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7824" y="440740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1596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网络难测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客户现场网络状况未知，缺乏快速透视手段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solidFill>
            <a:srgbClr val="0D18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09397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34D399"/>
                </a:solidFill>
                <a:latin typeface="微软雅黑" panose="020B0503020204020204" charset="-122"/>
              </a:rPr>
              <a:t>✦ CyberNWT 的回答</a:t>
            </a:r>
            <a:endParaRPr lang="zh-CN" sz="1400" b="1">
              <a:solidFill>
                <a:srgbClr val="34D399"/>
              </a:solidFill>
              <a:latin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55664" y="2706624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615184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知识库沉淀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深信服设备资料/故障案例构建专业知识库，有据可查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55664" y="3273552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18211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AI 引导排查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30 年经验专家智能体，一步步带工程师定位故障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55664" y="3840480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7490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案例复盘沉淀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项目过程输入，AI 自动生成结构化复盘报告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55664" y="4407408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31596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E9F1FF"/>
                </a:solidFill>
                <a:latin typeface="微软雅黑" panose="020B0503020204020204" charset="-122"/>
              </a:rPr>
              <a:t>全流程工具　</a:t>
            </a:r>
            <a:endParaRPr lang="zh-CN" sz="13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测速/拓扑感知/悬浮白板，交付现场一体化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solidFill>
            <a:srgbClr val="0A1426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22D3EE"/>
                </a:solidFill>
                <a:latin typeface="微软雅黑" panose="020B0503020204020204" charset="-122"/>
              </a:rPr>
              <a:t>定位：</a:t>
            </a:r>
            <a:endParaRPr lang="zh-CN" sz="1400" b="1">
              <a:solidFill>
                <a:srgbClr val="22D3EE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50" b="0">
                <a:solidFill>
                  <a:srgbClr val="E9F1FF"/>
                </a:solidFill>
                <a:latin typeface="微软雅黑" panose="020B0503020204020204" charset="-122"/>
              </a:rPr>
              <a:t>面向深信服交付工程师的 AI 智能助手终端 —— 把"资料、经验、工具"装进一个本地终端，让每一次交付都有知识可查、有智能可依、有过程可溯。</a:t>
            </a:r>
            <a:endParaRPr lang="zh-CN" sz="1350" b="0">
              <a:solidFill>
                <a:srgbClr val="E9F1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02 / CAPABILITIES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03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CAPABILITIES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五大能力，覆盖交付全流程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测速看清网络，感知看清现场，记录沉淀灵感，诊断扫清障碍，复盘萃取经验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057400"/>
            <a:ext cx="3401568" cy="1938528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057400"/>
            <a:ext cx="340156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2219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>
                <a:solidFill>
                  <a:srgbClr val="22D3EE"/>
                </a:solidFill>
                <a:latin typeface="Consolas" panose="020B0609020204030204"/>
              </a:rPr>
              <a:t>01</a:t>
            </a:r>
            <a:endParaRPr lang="zh-CN" sz="26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1640" y="2258568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700" b="1">
                <a:solidFill>
                  <a:srgbClr val="E9F1FF"/>
                </a:solidFill>
                <a:latin typeface="微软雅黑" panose="020B0503020204020204" charset="-122"/>
              </a:rPr>
              <a:t>灵犀测速</a:t>
            </a:r>
            <a:endParaRPr lang="zh-CN" sz="17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950" b="0">
                <a:solidFill>
                  <a:srgbClr val="6B7C98"/>
                </a:solidFill>
                <a:latin typeface="Consolas" panose="020B0609020204030204"/>
              </a:rPr>
              <a:t>  SPEEDLENS</a:t>
            </a:r>
            <a:endParaRPr lang="zh-CN" sz="95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" y="2770632"/>
            <a:ext cx="303580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一键全链路测速：握手/延迟/突发上下行，约 4 秒出结果；实时波形 + 全链路透视 + 智能诊断结论，标准 JSON / Prometheus 输出。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79976" y="2057400"/>
            <a:ext cx="3401568" cy="1938528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9976" y="2057400"/>
            <a:ext cx="3401568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22219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>
                <a:solidFill>
                  <a:srgbClr val="34D399"/>
                </a:solidFill>
                <a:latin typeface="Consolas" panose="020B0609020204030204"/>
              </a:rPr>
              <a:t>02</a:t>
            </a:r>
            <a:endParaRPr lang="zh-CN" sz="2600" b="1">
              <a:solidFill>
                <a:srgbClr val="34D399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48656" y="2258568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700" b="1">
                <a:solidFill>
                  <a:srgbClr val="E9F1FF"/>
                </a:solidFill>
                <a:latin typeface="微软雅黑" panose="020B0503020204020204" charset="-122"/>
              </a:rPr>
              <a:t>内网感知</a:t>
            </a:r>
            <a:endParaRPr lang="zh-CN" sz="17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950" b="0">
                <a:solidFill>
                  <a:srgbClr val="6B7C98"/>
                </a:solidFill>
                <a:latin typeface="Consolas" panose="020B0609020204030204"/>
              </a:rPr>
              <a:t>  NETSENSE</a:t>
            </a:r>
            <a:endParaRPr lang="zh-CN" sz="95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62856" y="2770632"/>
            <a:ext cx="303580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接入客户内网即感知：实测接入方式、网关与网段；自动生成可视化拓扑、网段/VLAN 表与设备清单，深信服设备建模部署建议。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936992" y="2057400"/>
            <a:ext cx="3401568" cy="1938528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36992" y="2057400"/>
            <a:ext cx="3401568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22219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>
                <a:solidFill>
                  <a:srgbClr val="A78BFA"/>
                </a:solidFill>
                <a:latin typeface="Consolas" panose="020B0609020204030204"/>
              </a:rPr>
              <a:t>03</a:t>
            </a:r>
            <a:endParaRPr lang="zh-CN" sz="2600" b="1">
              <a:solidFill>
                <a:srgbClr val="A78BFA"/>
              </a:solidFill>
              <a:latin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5672" y="2258568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700" b="1">
                <a:solidFill>
                  <a:srgbClr val="E9F1FF"/>
                </a:solidFill>
                <a:latin typeface="微软雅黑" panose="020B0503020204020204" charset="-122"/>
              </a:rPr>
              <a:t>随心记录</a:t>
            </a:r>
            <a:endParaRPr lang="zh-CN" sz="17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950" b="0">
                <a:solidFill>
                  <a:srgbClr val="6B7C98"/>
                </a:solidFill>
                <a:latin typeface="Consolas" panose="020B0609020204030204"/>
              </a:rPr>
              <a:t>  WHITEBOARD</a:t>
            </a:r>
            <a:endParaRPr lang="zh-CN" sz="95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19872" y="2770632"/>
            <a:ext cx="303580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全站悬浮白板：右下角一键唤起，自由绘制、点击即写、截图标注，内容自动保存本地，一键导出 PNG。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89888" y="4197096"/>
            <a:ext cx="3401568" cy="1938528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89888" y="4197096"/>
            <a:ext cx="3401568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2768" y="43616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>
                <a:solidFill>
                  <a:srgbClr val="F472B6"/>
                </a:solidFill>
                <a:latin typeface="Consolas" panose="020B0609020204030204"/>
              </a:rPr>
              <a:t>04</a:t>
            </a:r>
            <a:endParaRPr lang="zh-CN" sz="2600" b="1">
              <a:solidFill>
                <a:srgbClr val="F472B6"/>
              </a:solidFill>
              <a:latin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58568" y="4398264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700" b="1">
                <a:solidFill>
                  <a:srgbClr val="E9F1FF"/>
                </a:solidFill>
                <a:latin typeface="微软雅黑" panose="020B0503020204020204" charset="-122"/>
              </a:rPr>
              <a:t>故障诊断</a:t>
            </a:r>
            <a:endParaRPr lang="zh-CN" sz="17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950" b="0">
                <a:solidFill>
                  <a:srgbClr val="6B7C98"/>
                </a:solidFill>
                <a:latin typeface="Consolas" panose="020B0609020204030204"/>
              </a:rPr>
              <a:t>  AI ASSISTANT</a:t>
            </a:r>
            <a:endParaRPr lang="zh-CN" sz="95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72768" y="4910328"/>
            <a:ext cx="303580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对话式排查深信服设备实施故障：上架/割接/VPN/链路/无线漫游；引导式排查 + 知识库引用，可粘贴日志分析。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46904" y="4197096"/>
            <a:ext cx="3401568" cy="1938528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46904" y="4197096"/>
            <a:ext cx="3401568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9784" y="43616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>
                <a:solidFill>
                  <a:srgbClr val="F59E0B"/>
                </a:solidFill>
                <a:latin typeface="Consolas" panose="020B0609020204030204"/>
              </a:rPr>
              <a:t>05</a:t>
            </a:r>
            <a:endParaRPr lang="zh-CN" sz="2600" b="1">
              <a:solidFill>
                <a:srgbClr val="F59E0B"/>
              </a:solidFill>
              <a:latin typeface="Consolas" panose="020B0609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15584" y="4398264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700" b="1">
                <a:solidFill>
                  <a:srgbClr val="E9F1FF"/>
                </a:solidFill>
                <a:latin typeface="微软雅黑" panose="020B0503020204020204" charset="-122"/>
              </a:rPr>
              <a:t>案例复盘</a:t>
            </a:r>
            <a:endParaRPr lang="zh-CN" sz="17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950" b="0">
                <a:solidFill>
                  <a:srgbClr val="6B7C98"/>
                </a:solidFill>
                <a:latin typeface="Consolas" panose="020B0609020204030204"/>
              </a:rPr>
              <a:t>  AI REPORT</a:t>
            </a:r>
            <a:endParaRPr lang="zh-CN" sz="95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129784" y="4910328"/>
            <a:ext cx="303580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把项目过程讲给 AI，自动生成结构化复盘报告：时间线、根因分析、方法论提炼、风险改进项，Markdown 一键导出。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03920" y="4197096"/>
            <a:ext cx="3401568" cy="1938528"/>
          </a:xfrm>
          <a:prstGeom prst="rect">
            <a:avLst/>
          </a:prstGeom>
          <a:solidFill>
            <a:srgbClr val="0C1A2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03920" y="4197096"/>
            <a:ext cx="340156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43616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>
                <a:solidFill>
                  <a:srgbClr val="22D3EE"/>
                </a:solidFill>
                <a:latin typeface="Consolas" panose="020B0609020204030204"/>
              </a:rPr>
              <a:t>∞</a:t>
            </a:r>
            <a:endParaRPr lang="zh-CN" sz="26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72600" y="4398264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700" b="1">
                <a:solidFill>
                  <a:srgbClr val="E9F1FF"/>
                </a:solidFill>
                <a:latin typeface="微软雅黑" panose="020B0503020204020204" charset="-122"/>
              </a:rPr>
              <a:t>能力闭环</a:t>
            </a:r>
            <a:endParaRPr lang="zh-CN" sz="17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950" b="0">
                <a:solidFill>
                  <a:srgbClr val="6B7C98"/>
                </a:solidFill>
                <a:latin typeface="Consolas" panose="020B0609020204030204"/>
              </a:rPr>
              <a:t>  CLOSED LOOP</a:t>
            </a:r>
            <a:endParaRPr lang="zh-CN" sz="95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686800" y="4910328"/>
            <a:ext cx="303580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五环相扣形成交付闭环：现场发现问题 → 知识库找依据 → 智能体带排查 → 复盘沉淀经验 → 经验反哺知识库。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/>
      </p:transition>
    </mc:Choice>
    <mc:Fallback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02 / CAPABILITIES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04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CORE · AI AGENT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故障诊断智能体：30 年经验的"远程专家"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不直接给答案，而是像前辈一样一步步带工程师排查 —— 引导式排查 + 知识库强约束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2057400"/>
            <a:ext cx="5669280" cy="87782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057400"/>
            <a:ext cx="45720" cy="87782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21488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22D3EE"/>
                </a:solidFill>
                <a:latin typeface="微软雅黑" panose="020B0503020204020204" charset="-122"/>
              </a:rPr>
              <a:t>引导式排查</a:t>
            </a:r>
            <a:endParaRPr lang="zh-CN" sz="140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" y="2459736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50" b="0">
                <a:solidFill>
                  <a:srgbClr val="9FB2CF"/>
                </a:solidFill>
                <a:latin typeface="微软雅黑" panose="020B0503020204020204" charset="-122"/>
              </a:rPr>
              <a:t>每轮只给一个具体动作（查命令/看日志/看指示灯），根据反馈走下一步，拒绝"一步登天"式答案</a:t>
            </a:r>
            <a:endParaRPr lang="zh-CN" sz="11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" y="3044952"/>
            <a:ext cx="5669280" cy="87782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044952"/>
            <a:ext cx="45720" cy="8778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13639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34D399"/>
                </a:solidFill>
                <a:latin typeface="微软雅黑" panose="020B0503020204020204" charset="-122"/>
              </a:rPr>
              <a:t>知识库强约束</a:t>
            </a:r>
            <a:endParaRPr lang="zh-CN" sz="1400" b="1">
              <a:solidFill>
                <a:srgbClr val="34D39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" y="344728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50" b="0">
                <a:solidFill>
                  <a:srgbClr val="9FB2CF"/>
                </a:solidFill>
                <a:latin typeface="微软雅黑" panose="020B0503020204020204" charset="-122"/>
              </a:rPr>
              <a:t>所有判断必须基于深信服故障诊断知识库；库里没有就明说，严禁编造 —— 杜绝 AI 幻觉</a:t>
            </a:r>
            <a:endParaRPr lang="zh-CN" sz="11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2960" y="4032504"/>
            <a:ext cx="5669280" cy="87782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032504"/>
            <a:ext cx="45720" cy="87782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123944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A78BFA"/>
                </a:solidFill>
                <a:latin typeface="微软雅黑" panose="020B0503020204020204" charset="-122"/>
              </a:rPr>
              <a:t>结构化输出</a:t>
            </a:r>
            <a:endParaRPr lang="zh-CN" sz="1400" b="1">
              <a:solidFill>
                <a:srgbClr val="A78BF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" y="44348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50" b="0">
                <a:solidFill>
                  <a:srgbClr val="9FB2CF"/>
                </a:solidFill>
                <a:latin typeface="微软雅黑" panose="020B0503020204020204" charset="-122"/>
              </a:rPr>
              <a:t>当前步骤 → 请执行操作 → 预期结果 → 注意事项，现场工程师一眼看懂</a:t>
            </a:r>
            <a:endParaRPr lang="zh-CN" sz="11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2960" y="5020056"/>
            <a:ext cx="5669280" cy="87782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020056"/>
            <a:ext cx="4572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1149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1">
                <a:solidFill>
                  <a:srgbClr val="F59E0B"/>
                </a:solidFill>
                <a:latin typeface="微软雅黑" panose="020B0503020204020204" charset="-122"/>
              </a:rPr>
              <a:t>风险前置警告</a:t>
            </a:r>
            <a:endParaRPr lang="zh-CN" sz="14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" y="542239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50" b="0">
                <a:solidFill>
                  <a:srgbClr val="9FB2CF"/>
                </a:solidFill>
                <a:latin typeface="微软雅黑" panose="020B0503020204020204" charset="-122"/>
              </a:rPr>
              <a:t>涉及重启设备/修改核心配置/主备切换等高风险操作，琥珀色警告 + 变更窗口提醒</a:t>
            </a:r>
            <a:endParaRPr lang="zh-CN" sz="11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812280" y="2011680"/>
            <a:ext cx="2499969" cy="2011680"/>
          </a:xfrm>
          <a:prstGeom prst="rect">
            <a:avLst/>
          </a:prstGeom>
          <a:solidFill>
            <a:srgbClr val="0D1628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故障诊断排查skill预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57400"/>
            <a:ext cx="2408529" cy="192024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812280" y="4041648"/>
            <a:ext cx="2499969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智能体对话排查预览 · 引导式步骤输出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12280" y="4178808"/>
            <a:ext cx="2251373" cy="2011680"/>
          </a:xfrm>
          <a:prstGeom prst="rect">
            <a:avLst/>
          </a:prstGeom>
          <a:solidFill>
            <a:srgbClr val="0D162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故障诊断排查skill预览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224528"/>
            <a:ext cx="2159933" cy="192024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812280" y="6208776"/>
            <a:ext cx="2251373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结构化输出：步骤/操作/预期/注意事项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02 / CAPABILITIES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05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CORE · KNOWLEDGE BASE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深信服故障诊断知识库：AI 的"专业底气"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有依据的回答才敢用 —— 资料搜集 → 知识库构建 → 检索调试 → 实测验证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1965960"/>
            <a:ext cx="2706624" cy="2144410"/>
          </a:xfrm>
          <a:prstGeom prst="rect">
            <a:avLst/>
          </a:prstGeom>
          <a:solidFill>
            <a:srgbClr val="0D1628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9" name="Picture 18" descr="故障排查社区资料搜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2615184" cy="20529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34930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22D3EE"/>
                </a:solidFill>
                <a:latin typeface="微软雅黑" panose="020B0503020204020204" charset="-122"/>
              </a:rPr>
              <a:t>资料搜集</a:t>
            </a:r>
            <a:endParaRPr lang="zh-CN" sz="130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785616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故障排查社区/aDesk 资料库/官方文档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57016" y="1965960"/>
            <a:ext cx="2706624" cy="1345956"/>
          </a:xfrm>
          <a:prstGeom prst="rect">
            <a:avLst/>
          </a:prstGeom>
          <a:solidFill>
            <a:srgbClr val="0D162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创建深信服故障诊断知识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11680"/>
            <a:ext cx="2615184" cy="12545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02736" y="34930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34D399"/>
                </a:solidFill>
                <a:latin typeface="微软雅黑" panose="020B0503020204020204" charset="-122"/>
              </a:rPr>
              <a:t>知识库构建</a:t>
            </a:r>
            <a:endParaRPr lang="zh-CN" sz="1300" b="1">
              <a:solidFill>
                <a:srgbClr val="34D39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02736" y="3785616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深信服故障诊断知识库 + 案例复盘库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36792" y="1965960"/>
            <a:ext cx="2706624" cy="2684616"/>
          </a:xfrm>
          <a:prstGeom prst="rect">
            <a:avLst/>
          </a:prstGeom>
          <a:solidFill>
            <a:srgbClr val="0D1628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深信服故障诊断知识库搜索设置调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2615184" cy="259317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82512" y="34930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A78BFA"/>
                </a:solidFill>
                <a:latin typeface="微软雅黑" panose="020B0503020204020204" charset="-122"/>
              </a:rPr>
              <a:t>检索调试</a:t>
            </a:r>
            <a:endParaRPr lang="zh-CN" sz="1300" b="1">
              <a:solidFill>
                <a:srgbClr val="A78BF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82512" y="3785616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搜索设置调优，命中率与引用来源可控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16568" y="1965960"/>
            <a:ext cx="2706624" cy="1336960"/>
          </a:xfrm>
          <a:prstGeom prst="rect">
            <a:avLst/>
          </a:prstGeom>
          <a:solidFill>
            <a:srgbClr val="0D1628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故障诊断排查知识库测试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011680"/>
            <a:ext cx="2615184" cy="1245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4930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F472B6"/>
                </a:solidFill>
                <a:latin typeface="微软雅黑" panose="020B0503020204020204" charset="-122"/>
              </a:rPr>
              <a:t>实测验证</a:t>
            </a:r>
            <a:endParaRPr lang="zh-CN" sz="1300" b="1">
              <a:solidFill>
                <a:srgbClr val="F472B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62288" y="3785616"/>
            <a:ext cx="2615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真实故障场景测试，答案有据可查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4" name="Isosceles Triangle 33"/>
          <p:cNvSpPr/>
          <p:nvPr/>
        </p:nvSpPr>
        <p:spPr>
          <a:xfrm rot="5400000">
            <a:off x="3456432" y="2971800"/>
            <a:ext cx="128016" cy="164592"/>
          </a:xfrm>
          <a:prstGeom prst="triangle">
            <a:avLst/>
          </a:prstGeom>
          <a:solidFill>
            <a:srgbClr val="6B7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6236208" y="2971800"/>
            <a:ext cx="128016" cy="164592"/>
          </a:xfrm>
          <a:prstGeom prst="triangle">
            <a:avLst/>
          </a:prstGeom>
          <a:solidFill>
            <a:srgbClr val="6B7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015984" y="2971800"/>
            <a:ext cx="128016" cy="164592"/>
          </a:xfrm>
          <a:prstGeom prst="triangle">
            <a:avLst/>
          </a:prstGeom>
          <a:solidFill>
            <a:srgbClr val="6B7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solidFill>
            <a:srgbClr val="0A1426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047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sz="1350" b="1">
                <a:solidFill>
                  <a:srgbClr val="34D399"/>
                </a:solidFill>
                <a:latin typeface="微软雅黑" panose="020B0503020204020204" charset="-122"/>
              </a:rPr>
              <a:t>双知识库支撑：</a:t>
            </a:r>
            <a:endParaRPr lang="zh-CN" sz="1350" b="1">
              <a:solidFill>
                <a:srgbClr val="34D399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sz="1250" b="0">
                <a:solidFill>
                  <a:srgbClr val="E9F1FF"/>
                </a:solidFill>
                <a:latin typeface="微软雅黑" panose="020B0503020204020204" charset="-122"/>
              </a:rPr>
              <a:t>故障诊断库（排查依据） + 案例复盘库（经验沉淀）。AI 回答末尾附参考来源（如「AF 故障处理手册 v3.2」），工程师可溯源验证；案例复盘的报告又回流为知识库素材，形成知识飞轮。</a:t>
            </a:r>
            <a:endParaRPr lang="zh-CN" sz="1250" b="0">
              <a:solidFill>
                <a:srgbClr val="E9F1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02 / CAPABILITIES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06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CORE · REPORT &amp; TOOLS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案例复盘与全流程工具：交付闭环的最后一块拼图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过程输入 → AI 结构化复盘 → 经验沉淀复用；测速/感知/白板支撑现场每一环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1965960"/>
            <a:ext cx="4018461" cy="1920240"/>
          </a:xfrm>
          <a:prstGeom prst="rect">
            <a:avLst/>
          </a:prstGeom>
          <a:solidFill>
            <a:srgbClr val="0D1628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9" name="Picture 18" descr="案例总结模板工作流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927021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77240" y="3904488"/>
            <a:ext cx="4018461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案例总结模板工作流：过程材料 → 结构化报告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4178808"/>
            <a:ext cx="3872401" cy="1874520"/>
          </a:xfrm>
          <a:prstGeom prst="rect">
            <a:avLst/>
          </a:prstGeom>
          <a:solidFill>
            <a:srgbClr val="0D162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案例复盘报告skill配置展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24528"/>
            <a:ext cx="3780961" cy="17830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77240" y="6071616"/>
            <a:ext cx="3872401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案例复盘报告 skill 配置：报告生成逻辑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0" y="2011680"/>
            <a:ext cx="4754880" cy="96926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011680"/>
            <a:ext cx="45720" cy="9692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2121408"/>
            <a:ext cx="4352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50" b="1">
                <a:solidFill>
                  <a:srgbClr val="22D3EE"/>
                </a:solidFill>
                <a:latin typeface="微软雅黑" panose="020B0503020204020204" charset="-122"/>
              </a:rPr>
              <a:t>灵犀测速  SPEEDLENS</a:t>
            </a:r>
            <a:endParaRPr lang="zh-CN" sz="135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4848" y="2468880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4 秒一键测速 · 波形透视 · 智能诊断 · JSON/Prometheus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83680" y="3090672"/>
            <a:ext cx="4754880" cy="96926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3090672"/>
            <a:ext cx="45720" cy="9692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3200400"/>
            <a:ext cx="4352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50" b="1">
                <a:solidFill>
                  <a:srgbClr val="34D399"/>
                </a:solidFill>
                <a:latin typeface="微软雅黑" panose="020B0503020204020204" charset="-122"/>
              </a:rPr>
              <a:t>内网感知  NETSENSE</a:t>
            </a:r>
            <a:endParaRPr lang="zh-CN" sz="1350" b="1">
              <a:solidFill>
                <a:srgbClr val="34D399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84848" y="3547872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实测网关/网段 · 拓扑自动生成 · 深信服建模部署建议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0" y="4169664"/>
            <a:ext cx="4754880" cy="969264"/>
          </a:xfrm>
          <a:prstGeom prst="rect">
            <a:avLst/>
          </a:prstGeom>
          <a:solidFill>
            <a:srgbClr val="0A1020"/>
          </a:solidFill>
          <a:ln w="9525">
            <a:solidFill>
              <a:srgbClr val="1C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4169664"/>
            <a:ext cx="45720" cy="9692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4279392"/>
            <a:ext cx="4352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50" b="1">
                <a:solidFill>
                  <a:srgbClr val="A78BFA"/>
                </a:solidFill>
                <a:latin typeface="微软雅黑" panose="020B0503020204020204" charset="-122"/>
              </a:rPr>
              <a:t>悬浮白板  WHITEBOARD</a:t>
            </a:r>
            <a:endParaRPr lang="zh-CN" sz="1350" b="1">
              <a:solidFill>
                <a:srgbClr val="A78BF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84848" y="4626864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sz="1100" b="0">
                <a:solidFill>
                  <a:srgbClr val="9FB2CF"/>
                </a:solidFill>
                <a:latin typeface="微软雅黑" panose="020B0503020204020204" charset="-122"/>
              </a:rPr>
              <a:t>全站悬浮 · 绘制/打字/截图标注 · 自动保存 · PNG 导出</a:t>
            </a:r>
            <a:endParaRPr lang="zh-CN" sz="11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583680" y="5349240"/>
            <a:ext cx="4754880" cy="749808"/>
          </a:xfrm>
          <a:prstGeom prst="rect">
            <a:avLst/>
          </a:prstGeom>
          <a:solidFill>
            <a:srgbClr val="0C1A2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546811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200" b="1">
                <a:solidFill>
                  <a:srgbClr val="22D3EE"/>
                </a:solidFill>
                <a:latin typeface="微软雅黑" panose="020B0503020204020204" charset="-122"/>
              </a:rPr>
              <a:t>复盘 → 沉淀 → 复用：</a:t>
            </a:r>
            <a:endParaRPr lang="zh-CN" sz="1200" b="1">
              <a:solidFill>
                <a:srgbClr val="22D3EE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CN" sz="1150" b="0">
                <a:solidFill>
                  <a:srgbClr val="E9F1FF"/>
                </a:solidFill>
                <a:latin typeface="微软雅黑" panose="020B0503020204020204" charset="-122"/>
              </a:rPr>
              <a:t>报告回流知识库，经验不再锁在个人脑子里</a:t>
            </a:r>
            <a:endParaRPr lang="zh-CN" sz="1150" b="0">
              <a:solidFill>
                <a:srgbClr val="E9F1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/>
      </p:transition>
    </mc:Choice>
    <mc:Fallback>
      <p:transition spd="slow"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03 / STORY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07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BEHIND THE STORY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背后的故事：从想法到落地，每一步都有迹可循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Vibe Coding 全程驱动 —— 与 AI 结对，把"30 年专家经验"一点点教给它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2395728"/>
            <a:ext cx="10424160" cy="0"/>
          </a:xfrm>
          <a:prstGeom prst="line">
            <a:avLst/>
          </a:prstGeom>
          <a:ln w="19050">
            <a:solidFill>
              <a:srgbClr val="1E3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888236" y="2340864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60604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50" b="1">
                <a:solidFill>
                  <a:srgbClr val="22D3EE"/>
                </a:solidFill>
                <a:latin typeface="微软雅黑" panose="020B0503020204020204" charset="-122"/>
              </a:rPr>
              <a:t>① 需求与灵感</a:t>
            </a:r>
            <a:endParaRPr lang="zh-CN" sz="125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32688" y="2880360"/>
            <a:ext cx="2011680" cy="1259840"/>
          </a:xfrm>
          <a:prstGeom prst="rect">
            <a:avLst/>
          </a:prstGeom>
          <a:solidFill>
            <a:srgbClr val="0D1628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ai视频内容提炼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26080"/>
            <a:ext cx="1920240" cy="1168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" y="470916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zh-CN" sz="950" b="0">
                <a:solidFill>
                  <a:srgbClr val="9FB2CF"/>
                </a:solidFill>
                <a:latin typeface="微软雅黑" panose="020B0503020204020204" charset="-122"/>
              </a:rPr>
              <a:t>AI 赛道培训启发：从身边真实痛点出发 —— 交付现场"资料难找、经验断层"</a:t>
            </a:r>
            <a:endParaRPr lang="zh-CN" sz="9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46804" y="234086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7248" y="260604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50" b="1">
                <a:solidFill>
                  <a:srgbClr val="34D399"/>
                </a:solidFill>
                <a:latin typeface="微软雅黑" panose="020B0503020204020204" charset="-122"/>
              </a:rPr>
              <a:t>② 资料收集</a:t>
            </a:r>
            <a:endParaRPr lang="zh-CN" sz="1250" b="1">
              <a:solidFill>
                <a:srgbClr val="34D399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91256" y="2880360"/>
            <a:ext cx="2011680" cy="1098395"/>
          </a:xfrm>
          <a:prstGeom prst="rect">
            <a:avLst/>
          </a:prstGeom>
          <a:solidFill>
            <a:srgbClr val="0D162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aDesk桌面云资料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926080"/>
            <a:ext cx="1920240" cy="100695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27248" y="470916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zh-CN" sz="950" b="0">
                <a:solidFill>
                  <a:srgbClr val="9FB2CF"/>
                </a:solidFill>
                <a:latin typeface="微软雅黑" panose="020B0503020204020204" charset="-122"/>
              </a:rPr>
              <a:t>深信服社区/aDesk 资料库系统性搜集故障案例与设备资料，建立素材池</a:t>
            </a:r>
            <a:endParaRPr lang="zh-CN" sz="9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405372" y="2340864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5816" y="260604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50" b="1">
                <a:solidFill>
                  <a:srgbClr val="A78BFA"/>
                </a:solidFill>
                <a:latin typeface="微软雅黑" panose="020B0503020204020204" charset="-122"/>
              </a:rPr>
              <a:t>③ 知识库搭建</a:t>
            </a:r>
            <a:endParaRPr lang="zh-CN" sz="1250" b="1">
              <a:solidFill>
                <a:srgbClr val="A78BFA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49824" y="2880360"/>
            <a:ext cx="1743321" cy="1664208"/>
          </a:xfrm>
          <a:prstGeom prst="rect">
            <a:avLst/>
          </a:prstGeom>
          <a:solidFill>
            <a:srgbClr val="0D1628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深信服故障诊断知识库描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2926080"/>
            <a:ext cx="1651881" cy="15727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385816" y="470916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zh-CN" sz="950" b="0">
                <a:solidFill>
                  <a:srgbClr val="9FB2CF"/>
                </a:solidFill>
                <a:latin typeface="微软雅黑" panose="020B0503020204020204" charset="-122"/>
              </a:rPr>
              <a:t>构建故障诊断 + 案例复盘双知识库，描述与检索设置反复打磨</a:t>
            </a:r>
            <a:endParaRPr lang="zh-CN" sz="9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663940" y="2340864"/>
            <a:ext cx="118872" cy="118872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4384" y="260604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50" b="1">
                <a:solidFill>
                  <a:srgbClr val="F472B6"/>
                </a:solidFill>
                <a:latin typeface="微软雅黑" panose="020B0503020204020204" charset="-122"/>
              </a:rPr>
              <a:t>④ 智能体开发</a:t>
            </a:r>
            <a:endParaRPr lang="zh-CN" sz="1250" b="1">
              <a:solidFill>
                <a:srgbClr val="F472B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08392" y="2880360"/>
            <a:ext cx="2011680" cy="1005983"/>
          </a:xfrm>
          <a:prstGeom prst="rect">
            <a:avLst/>
          </a:prstGeom>
          <a:solidFill>
            <a:srgbClr val="0D1628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创作工作台智能体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926080"/>
            <a:ext cx="1920240" cy="91454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44384" y="470916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zh-CN" sz="950" b="0">
                <a:solidFill>
                  <a:srgbClr val="9FB2CF"/>
                </a:solidFill>
                <a:latin typeface="微软雅黑" panose="020B0503020204020204" charset="-122"/>
              </a:rPr>
              <a:t>编写 30 年专家提示词，配置引导式排查逻辑，Skill 化沉淀</a:t>
            </a:r>
            <a:endParaRPr lang="zh-CN" sz="9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0922508" y="2340864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2952" y="260604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50" b="1">
                <a:solidFill>
                  <a:srgbClr val="F59E0B"/>
                </a:solidFill>
                <a:latin typeface="微软雅黑" panose="020B0503020204020204" charset="-122"/>
              </a:rPr>
              <a:t>⑤ 测试与调优</a:t>
            </a:r>
            <a:endParaRPr lang="zh-CN" sz="125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966960" y="2880360"/>
            <a:ext cx="2011680" cy="1013155"/>
          </a:xfrm>
          <a:prstGeom prst="rect">
            <a:avLst/>
          </a:prstGeom>
          <a:solidFill>
            <a:srgbClr val="0D1628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42" name="Picture 41" descr="故障诊断排查知识库测试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926080"/>
            <a:ext cx="1920240" cy="92171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902952" y="470916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zh-CN" sz="950" b="0">
                <a:solidFill>
                  <a:srgbClr val="9FB2CF"/>
                </a:solidFill>
                <a:latin typeface="微软雅黑" panose="020B0503020204020204" charset="-122"/>
              </a:rPr>
              <a:t>真实故障场景测试 → 调整检索参数 → 优化输出格式，多轮迭代</a:t>
            </a:r>
            <a:endParaRPr lang="zh-CN" sz="9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200" b="1">
                <a:solidFill>
                  <a:srgbClr val="22D3EE"/>
                </a:solidFill>
                <a:latin typeface="微软雅黑" panose="020B0503020204020204" charset="-122"/>
              </a:rPr>
              <a:t>创作方式：</a:t>
            </a:r>
            <a:endParaRPr lang="zh-CN" sz="1200" b="1">
              <a:solidFill>
                <a:srgbClr val="22D3EE"/>
              </a:solidFill>
              <a:latin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150" b="0">
                <a:solidFill>
                  <a:srgbClr val="9FB2CF"/>
                </a:solidFill>
                <a:latin typeface="微软雅黑" panose="020B0503020204020204" charset="-122"/>
              </a:rPr>
              <a:t>全程 Vibe Coding —— 需求描述给 AI、AI 生成实现、人工验收迭代，零基础也能做出能跑的产品（本 PPT 亦由 AI 生成）</a:t>
            </a:r>
            <a:endParaRPr lang="zh-CN" sz="115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04 / IMPROVEMENT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08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00" b="1">
                <a:solidFill>
                  <a:srgbClr val="22D3EE"/>
                </a:solidFill>
                <a:latin typeface="Consolas" panose="020B0609020204030204"/>
              </a:rPr>
              <a:t>ITERATION</a:t>
            </a:r>
            <a:endParaRPr lang="zh-CN" sz="11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3000" b="1">
                <a:solidFill>
                  <a:srgbClr val="E9F1FF"/>
                </a:solidFill>
                <a:latin typeface="微软雅黑" panose="020B0503020204020204" charset="-122"/>
              </a:rPr>
              <a:t>改进：从"演示能跑"到"现场可用"</a:t>
            </a:r>
            <a:endParaRPr lang="zh-CN" sz="300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389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300" b="0">
                <a:solidFill>
                  <a:srgbClr val="9FB2CF"/>
                </a:solidFill>
                <a:latin typeface="微软雅黑" panose="020B0503020204020204" charset="-122"/>
              </a:rPr>
              <a:t>不做"刚好能用"的作品 —— 真机部署验证、离线场景兜底、体验持续打磨</a:t>
            </a:r>
            <a:endParaRPr lang="zh-CN" sz="13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" y="1353312"/>
            <a:ext cx="1536192" cy="0"/>
          </a:xfrm>
          <a:prstGeom prst="line">
            <a:avLst/>
          </a:prstGeom>
          <a:ln w="254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1965960"/>
            <a:ext cx="2801408" cy="3703320"/>
          </a:xfrm>
          <a:prstGeom prst="rect">
            <a:avLst/>
          </a:prstGeom>
          <a:solidFill>
            <a:srgbClr val="0D162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9" name="Picture 18" descr="在朋友上运行的情况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2709968" cy="36118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77240" y="5687568"/>
            <a:ext cx="2801408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真机部署验证：在同事电脑上实际运行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31919" y="1965960"/>
            <a:ext cx="3415408" cy="1847088"/>
          </a:xfrm>
          <a:prstGeom prst="rect">
            <a:avLst/>
          </a:prstGeom>
          <a:solidFill>
            <a:srgbClr val="0D1628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改进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011680"/>
            <a:ext cx="3323968" cy="17556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931919" y="3831336"/>
            <a:ext cx="3415408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智能体输出优化：排查步骤更聚焦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31919" y="3995928"/>
            <a:ext cx="3268528" cy="1847088"/>
          </a:xfrm>
          <a:prstGeom prst="rect">
            <a:avLst/>
          </a:prstGeom>
          <a:solidFill>
            <a:srgbClr val="0D1628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改进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4041648"/>
            <a:ext cx="3177088" cy="17556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931919" y="5861304"/>
            <a:ext cx="3268528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知识库命中与引用来源优化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72400" y="1965960"/>
            <a:ext cx="3021920" cy="1847088"/>
          </a:xfrm>
          <a:prstGeom prst="rect">
            <a:avLst/>
          </a:prstGeom>
          <a:solidFill>
            <a:srgbClr val="0D1628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8" name="Picture 27" descr="没网的时候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011680"/>
            <a:ext cx="2930480" cy="175564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772400" y="3831336"/>
            <a:ext cx="3021920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离线场景兜底：客户现场没网的应对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72400" y="3995928"/>
            <a:ext cx="3212592" cy="1847088"/>
          </a:xfrm>
          <a:prstGeom prst="rect">
            <a:avLst/>
          </a:prstGeom>
          <a:solidFill>
            <a:srgbClr val="0D1628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改进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041648"/>
            <a:ext cx="3121152" cy="175564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772400" y="5861304"/>
            <a:ext cx="3212592" cy="292608"/>
          </a:xfrm>
          <a:prstGeom prst="rect">
            <a:avLst/>
          </a:prstGeom>
          <a:solidFill>
            <a:srgbClr val="0D1628"/>
          </a:solidFill>
          <a:ln w="63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000">
                <a:solidFill>
                  <a:srgbClr val="9FB2CF"/>
                </a:solidFill>
                <a:latin typeface="微软雅黑" panose="020B0503020204020204" charset="-122"/>
              </a:rPr>
              <a:t>端到端验收：核心链路真实跑通</a:t>
            </a:r>
            <a:endParaRPr sz="100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22960" y="586130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78815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50" b="1">
                <a:solidFill>
                  <a:srgbClr val="E9F1FF"/>
                </a:solidFill>
                <a:latin typeface="微软雅黑" panose="020B0503020204020204" charset="-122"/>
              </a:rPr>
              <a:t>真机验证　</a:t>
            </a:r>
            <a:endParaRPr lang="zh-CN" sz="115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不只在自己电脑能跑，同事机器部署验证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520440" y="586130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578815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50" b="1">
                <a:solidFill>
                  <a:srgbClr val="E9F1FF"/>
                </a:solidFill>
                <a:latin typeface="微软雅黑" panose="020B0503020204020204" charset="-122"/>
              </a:rPr>
              <a:t>离线兜底　</a:t>
            </a:r>
            <a:endParaRPr lang="zh-CN" sz="115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客户现场无网场景预案，断网也有基础能力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217920" y="586130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578815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50" b="1">
                <a:solidFill>
                  <a:srgbClr val="E9F1FF"/>
                </a:solidFill>
                <a:latin typeface="微软雅黑" panose="020B0503020204020204" charset="-122"/>
              </a:rPr>
              <a:t>输出调优　</a:t>
            </a:r>
            <a:endParaRPr lang="zh-CN" sz="115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排查步骤更聚焦、引用来源更明确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915400" y="5861304"/>
            <a:ext cx="82296" cy="8229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9992" y="578815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150" b="1">
                <a:solidFill>
                  <a:srgbClr val="E9F1FF"/>
                </a:solidFill>
                <a:latin typeface="微软雅黑" panose="020B0503020204020204" charset="-122"/>
              </a:rPr>
              <a:t>端到端验收　</a:t>
            </a:r>
            <a:endParaRPr lang="zh-CN" sz="115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9FB2CF"/>
                </a:solidFill>
                <a:latin typeface="微软雅黑" panose="020B0503020204020204" charset="-122"/>
              </a:rPr>
              <a:t>真实跑通核心链路，拒绝"演示专用"</a:t>
            </a:r>
            <a:endParaRPr lang="zh-CN" sz="10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/>
      </p:transition>
    </mc:Choice>
    <mc:Fallback>
      <p:transition spd="slow">
        <p:pu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3810">
            <a:solidFill>
              <a:srgbClr val="11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64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05 / VISION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CN" sz="1000" b="0">
                <a:solidFill>
                  <a:srgbClr val="6B7C98"/>
                </a:solidFill>
                <a:latin typeface="Consolas" panose="020B0609020204030204"/>
              </a:rPr>
              <a:t>09</a:t>
            </a:r>
            <a:endParaRPr lang="zh-CN" sz="1000" b="0">
              <a:solidFill>
                <a:srgbClr val="6B7C98"/>
              </a:solidFill>
              <a:latin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0" y="6601968"/>
            <a:ext cx="12191695" cy="0"/>
          </a:xfrm>
          <a:prstGeom prst="line">
            <a:avLst/>
          </a:prstGeom>
          <a:ln w="6350">
            <a:solidFill>
              <a:srgbClr val="141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041648" y="685800"/>
            <a:ext cx="4114800" cy="4114800"/>
          </a:xfrm>
          <a:prstGeom prst="ellipse">
            <a:avLst/>
          </a:prstGeom>
          <a:noFill/>
          <a:ln w="15240">
            <a:solidFill>
              <a:srgbClr val="14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98848" y="1143000"/>
            <a:ext cx="3200400" cy="3200400"/>
          </a:xfrm>
          <a:prstGeom prst="ellipse">
            <a:avLst/>
          </a:prstGeom>
          <a:noFill/>
          <a:ln w="10160">
            <a:solidFill>
              <a:srgbClr val="1B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05156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300" b="1">
                <a:solidFill>
                  <a:srgbClr val="22D3EE"/>
                </a:solidFill>
                <a:latin typeface="Consolas" panose="020B0609020204030204"/>
              </a:rPr>
              <a:t>VISION &amp; THANKS</a:t>
            </a:r>
            <a:endParaRPr lang="zh-CN" sz="1300" b="1">
              <a:solidFill>
                <a:srgbClr val="22D3EE"/>
              </a:solidFill>
              <a:latin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155448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sz="3400" b="1">
                <a:solidFill>
                  <a:srgbClr val="E9F1FF"/>
                </a:solidFill>
                <a:latin typeface="微软雅黑" panose="020B0503020204020204" charset="-122"/>
              </a:rPr>
              <a:t>让 AI 的专业经验，</a:t>
            </a:r>
            <a:endParaRPr lang="zh-CN" sz="3400" b="1">
              <a:solidFill>
                <a:srgbClr val="E9F1FF"/>
              </a:solidFill>
              <a:latin typeface="微软雅黑" panose="020B0503020204020204" charset="-122"/>
            </a:endParaRP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sz="3400" b="1">
                <a:solidFill>
                  <a:srgbClr val="22D3EE"/>
                </a:solidFill>
                <a:latin typeface="微软雅黑" panose="020B0503020204020204" charset="-122"/>
              </a:rPr>
              <a:t>守护每一次交付</a:t>
            </a:r>
            <a:endParaRPr lang="zh-CN" sz="340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377440" y="310896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017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500" b="1">
                <a:solidFill>
                  <a:srgbClr val="22D3EE"/>
                </a:solidFill>
                <a:latin typeface="微软雅黑" panose="020B0503020204020204" charset="-122"/>
              </a:rPr>
              <a:t>从"会用工具"到"用好 AI"</a:t>
            </a:r>
            <a:endParaRPr lang="zh-CN" sz="1500" b="1">
              <a:solidFill>
                <a:srgbClr val="22D3E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1760" y="33649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这次比赛教会我的，不是某个工具的操作，而是一套方法：把真实问题说清楚，让 AI 拆解、实现、验证、迭代。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377440" y="395020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8587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500" b="1">
                <a:solidFill>
                  <a:srgbClr val="34D399"/>
                </a:solidFill>
                <a:latin typeface="微软雅黑" panose="020B0503020204020204" charset="-122"/>
              </a:rPr>
              <a:t>AI 赋能不是开发者的专利</a:t>
            </a:r>
            <a:endParaRPr lang="zh-CN" sz="1500" b="1">
              <a:solidFill>
                <a:srgbClr val="34D39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51760" y="4206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零基础也能做出解决真实问题的作品 —— 只要你愿意把身边的痛点当回事。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377440" y="479145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700016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500" b="1">
                <a:solidFill>
                  <a:srgbClr val="A78BFA"/>
                </a:solidFill>
                <a:latin typeface="微软雅黑" panose="020B0503020204020204" charset="-122"/>
              </a:rPr>
              <a:t>让经验不再"人走茶凉"</a:t>
            </a:r>
            <a:endParaRPr lang="zh-CN" sz="1500" b="1">
              <a:solidFill>
                <a:srgbClr val="A78BFA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51760" y="504748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200" b="0">
                <a:solidFill>
                  <a:srgbClr val="9FB2CF"/>
                </a:solidFill>
                <a:latin typeface="微软雅黑" panose="020B0503020204020204" charset="-122"/>
              </a:rPr>
              <a:t>把工程师的 30 年经验沉淀为知识库与智能体，让专业能力可传承、可复用、可进化。</a:t>
            </a:r>
            <a:endParaRPr lang="zh-CN" sz="1200" b="0">
              <a:solidFill>
                <a:srgbClr val="9FB2C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5623560"/>
            <a:ext cx="94457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350" b="1">
                <a:solidFill>
                  <a:srgbClr val="E9F1FF"/>
                </a:solidFill>
                <a:latin typeface="微软雅黑" panose="020B0503020204020204" charset="-122"/>
              </a:rPr>
              <a:t>衷心感谢深信服、感谢各位评审老师，愿意给我这样一个机会使用 AI、研究 AI、展示自己的作品。</a:t>
            </a:r>
            <a:endParaRPr lang="zh-CN" sz="1350" b="1">
              <a:solidFill>
                <a:srgbClr val="E9F1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71600" y="617220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1100" b="0">
                <a:solidFill>
                  <a:srgbClr val="6B7C98"/>
                </a:solidFill>
                <a:latin typeface="Consolas" panose="020B0609020204030204"/>
              </a:rPr>
              <a:t>CyberNWT · 翁炀彬 · AI 区域争霸赛</a:t>
            </a:r>
            <a:endParaRPr lang="zh-CN" sz="1100" b="0">
              <a:solidFill>
                <a:srgbClr val="6B7C98"/>
              </a:solidFill>
              <a:latin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2933</Words>
  <Application>WPS 演示</Application>
  <PresentationFormat>On-screen Show (4:3)</PresentationFormat>
  <Paragraphs>291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</vt:lpstr>
      <vt:lpstr>Consolas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WPS_1645533690</cp:lastModifiedBy>
  <cp:revision>2</cp:revision>
  <dcterms:created xsi:type="dcterms:W3CDTF">2013-01-27T09:14:00Z</dcterms:created>
  <dcterms:modified xsi:type="dcterms:W3CDTF">2026-09-05T01:46:02Z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060A0215C1114AA691EBC43CF7ACEAEC_12</vt:lpwstr>
  </property>
</Properties>
</file>